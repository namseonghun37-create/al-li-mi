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60000" y="6516000"/>
            <a:ext cx="900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Montserrat"/>
              </a:rPr>
              <a:t>01 / 10</a:t>
            </a:r>
          </a:p>
        </p:txBody>
      </p:sp>
      <p:sp>
        <p:nvSpPr>
          <p:cNvPr id="5" name="Oval 4"/>
          <p:cNvSpPr/>
          <p:nvPr/>
        </p:nvSpPr>
        <p:spPr>
          <a:xfrm>
            <a:off x="10944000" y="396000"/>
            <a:ext cx="864000" cy="864000"/>
          </a:xfrm>
          <a:prstGeom prst="ellipse">
            <a:avLst/>
          </a:prstGeom>
          <a:noFill/>
          <a:ln w="28575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44000" y="396000"/>
            <a:ext cx="864000" cy="86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0C9A7"/>
                </a:solidFill>
                <a:latin typeface="Montserrat"/>
              </a:rPr>
              <a:t>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304000"/>
            <a:ext cx="10368000" cy="1007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0" b="1" i="0">
                <a:solidFill>
                  <a:srgbClr val="FFFFFF"/>
                </a:solidFill>
                <a:latin typeface="Montserrat"/>
              </a:rPr>
              <a:t>TribeLink</a:t>
            </a:r>
          </a:p>
        </p:txBody>
      </p:sp>
      <p:sp>
        <p:nvSpPr>
          <p:cNvPr id="8" name="Rectangle 7"/>
          <p:cNvSpPr/>
          <p:nvPr/>
        </p:nvSpPr>
        <p:spPr>
          <a:xfrm>
            <a:off x="5194800" y="3438000"/>
            <a:ext cx="1800000" cy="32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3564000"/>
            <a:ext cx="103680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00C9A7"/>
                </a:solidFill>
                <a:latin typeface="Montserrat"/>
              </a:rPr>
              <a:t>“Where Global Teams Become Tribes”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5903999"/>
            <a:ext cx="10368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  <a:latin typeface="Montserrat"/>
              </a:rPr>
              <a:t>Presented by  Speaker A (CEO)   |   Speaker B (CPO)   |   Speaker C (CFO)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60000" y="6516000"/>
            <a:ext cx="900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Montserrat"/>
              </a:rPr>
              <a:t>02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396000"/>
            <a:ext cx="180000" cy="360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" y="378000"/>
            <a:ext cx="1080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ontserrat"/>
              </a:rPr>
              <a:t>Remote Workers Are Drowning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1944000"/>
            <a:ext cx="3512400" cy="3024000"/>
          </a:xfrm>
          <a:prstGeom prst="roundRect">
            <a:avLst>
              <a:gd name="adj" fmla="val 6000"/>
            </a:avLst>
          </a:prstGeom>
          <a:solidFill>
            <a:srgbClr val="1E2D3D"/>
          </a:solidFill>
          <a:ln>
            <a:noFill/>
          </a:ln>
          <a:effectLst>
            <a:outerShdw blurRad="152400" dist="508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2268000"/>
            <a:ext cx="3512400" cy="79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800" b="0" i="0">
                <a:solidFill>
                  <a:srgbClr val="FFFFFF"/>
                </a:solidFill>
                <a:latin typeface="Montserrat"/>
              </a:rPr>
              <a:t>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3204000"/>
            <a:ext cx="35124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6B4A"/>
                </a:solidFill>
                <a:latin typeface="Montserrat"/>
              </a:rPr>
              <a:t>Tool Overload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708000"/>
            <a:ext cx="31524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 i="0">
                <a:solidFill>
                  <a:srgbClr val="B0BEC5"/>
                </a:solidFill>
                <a:latin typeface="Montserrat"/>
              </a:rPr>
              <a:t>Average of 8 disconnected
tools per worker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2400" y="1944000"/>
            <a:ext cx="3512400" cy="3024000"/>
          </a:xfrm>
          <a:prstGeom prst="roundRect">
            <a:avLst>
              <a:gd name="adj" fmla="val 6000"/>
            </a:avLst>
          </a:prstGeom>
          <a:solidFill>
            <a:srgbClr val="1E2D3D"/>
          </a:solidFill>
          <a:ln>
            <a:noFill/>
          </a:ln>
          <a:effectLst>
            <a:outerShdw blurRad="152400" dist="508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2400" y="2268000"/>
            <a:ext cx="3512400" cy="79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800" b="0" i="0">
                <a:solidFill>
                  <a:srgbClr val="FFFFFF"/>
                </a:solidFill>
                <a:latin typeface="Montserrat"/>
              </a:rPr>
              <a:t>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2400" y="3204000"/>
            <a:ext cx="35124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6B4A"/>
                </a:solidFill>
                <a:latin typeface="Montserrat"/>
              </a:rPr>
              <a:t>Disconnection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2400" y="3708000"/>
            <a:ext cx="31524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 i="0">
                <a:solidFill>
                  <a:srgbClr val="B0BEC5"/>
                </a:solidFill>
                <a:latin typeface="Montserrat"/>
              </a:rPr>
              <a:t>87% of remote workers
feel isolated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8800" y="1944000"/>
            <a:ext cx="3512400" cy="3024000"/>
          </a:xfrm>
          <a:prstGeom prst="roundRect">
            <a:avLst>
              <a:gd name="adj" fmla="val 6000"/>
            </a:avLst>
          </a:prstGeom>
          <a:solidFill>
            <a:srgbClr val="1E2D3D"/>
          </a:solidFill>
          <a:ln>
            <a:noFill/>
          </a:ln>
          <a:effectLst>
            <a:outerShdw blurRad="152400" dist="508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8800" y="2268000"/>
            <a:ext cx="3512400" cy="79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800" b="0" i="0">
                <a:solidFill>
                  <a:srgbClr val="FFFFFF"/>
                </a:solidFill>
                <a:latin typeface="Montserrat"/>
              </a:rPr>
              <a:t>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8800" y="3204000"/>
            <a:ext cx="35124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6B4A"/>
                </a:solidFill>
                <a:latin typeface="Montserrat"/>
              </a:rPr>
              <a:t>Talent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8800" y="3708000"/>
            <a:ext cx="31524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 i="0">
                <a:solidFill>
                  <a:srgbClr val="B0BEC5"/>
                </a:solidFill>
                <a:latin typeface="Montserrat"/>
              </a:rPr>
              <a:t>Billions lost every year
to disengagement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00" y="6156000"/>
            <a:ext cx="108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  <a:latin typeface="Montserrat"/>
              </a:rPr>
              <a:t>Based on a survey of 1,200+ remote professionals across 30 countries.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60000" y="6516000"/>
            <a:ext cx="900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Montserrat"/>
              </a:rPr>
              <a:t>03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396000"/>
            <a:ext cx="180000" cy="360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" y="378000"/>
            <a:ext cx="1080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ontserrat"/>
              </a:rPr>
              <a:t>Introducing TribeLink</a:t>
            </a:r>
          </a:p>
        </p:txBody>
      </p:sp>
      <p:pic>
        <p:nvPicPr>
          <p:cNvPr id="7" name="Picture 6" descr="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600" y="1332000"/>
            <a:ext cx="6660000" cy="518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0000" y="6012000"/>
            <a:ext cx="10368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0C9A7"/>
                </a:solidFill>
                <a:latin typeface="Montserrat"/>
              </a:rPr>
              <a:t>One platform. One tribe. Infinite potential.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60000" y="6516000"/>
            <a:ext cx="900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Montserrat"/>
              </a:rPr>
              <a:t>04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396000"/>
            <a:ext cx="180000" cy="360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" y="378000"/>
            <a:ext cx="1080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ontserrat"/>
              </a:rPr>
              <a:t>4 Features That Set Us Apart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1944000"/>
            <a:ext cx="5430600" cy="194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000" y="1944000"/>
            <a:ext cx="108000" cy="1944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2195999"/>
            <a:ext cx="108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Montserrat"/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8000" y="2304000"/>
            <a:ext cx="37386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  <a:latin typeface="Montserrat"/>
              </a:rPr>
              <a:t>AI Tribe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8000" y="2880000"/>
            <a:ext cx="37386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A6B7B"/>
                </a:solidFill>
                <a:latin typeface="Montserrat"/>
              </a:rPr>
              <a:t>Accurate, adaptive role pairing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0600" y="1944000"/>
            <a:ext cx="5430600" cy="194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0600" y="1944000"/>
            <a:ext cx="108000" cy="1944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4600" y="2195999"/>
            <a:ext cx="108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Montserrat"/>
              </a:rPr>
              <a:t>🗳️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2600" y="2304000"/>
            <a:ext cx="37386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  <a:latin typeface="Montserrat"/>
              </a:rPr>
              <a:t>Smart Voting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2600" y="2880000"/>
            <a:ext cx="37386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A6B7B"/>
                </a:solidFill>
                <a:latin typeface="Montserrat"/>
              </a:rPr>
              <a:t>Democratic team decisions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" y="4176000"/>
            <a:ext cx="5430600" cy="194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00" y="4176000"/>
            <a:ext cx="108000" cy="1944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000" y="4427999"/>
            <a:ext cx="108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Montserrat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8000" y="4536000"/>
            <a:ext cx="37386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  <a:latin typeface="Montserrat"/>
              </a:rPr>
              <a:t>Contribution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8000" y="5112000"/>
            <a:ext cx="37386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A6B7B"/>
                </a:solidFill>
                <a:latin typeface="Montserrat"/>
              </a:rPr>
              <a:t>Real-time impact tracking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0600" y="4176000"/>
            <a:ext cx="5430600" cy="194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0600" y="4176000"/>
            <a:ext cx="108000" cy="1944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4600" y="4427999"/>
            <a:ext cx="108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Montserrat"/>
              </a:rPr>
              <a:t>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2600" y="4536000"/>
            <a:ext cx="37386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  <a:latin typeface="Montserrat"/>
              </a:rPr>
              <a:t>Green Workspace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2600" y="5112000"/>
            <a:ext cx="37386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A6B7B"/>
                </a:solidFill>
                <a:latin typeface="Montserrat"/>
              </a:rPr>
              <a:t>Environmentally friendly carbon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60000" y="6516000"/>
            <a:ext cx="900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Montserrat"/>
              </a:rPr>
              <a:t>05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396000"/>
            <a:ext cx="180000" cy="360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" y="378000"/>
            <a:ext cx="1080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ontserrat"/>
              </a:rPr>
              <a:t>A $45B Global Opportunity</a:t>
            </a:r>
          </a:p>
        </p:txBody>
      </p:sp>
      <p:pic>
        <p:nvPicPr>
          <p:cNvPr id="7" name="Picture 6" descr="concent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00000"/>
            <a:ext cx="4320000" cy="4320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20000" y="2015999"/>
            <a:ext cx="4464000" cy="1655999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>
            <a:noFill/>
          </a:ln>
          <a:effectLst>
            <a:outerShdw blurRad="152400" dist="508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6000" y="2195999"/>
            <a:ext cx="4032000" cy="79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00C9A7"/>
                </a:solidFill>
                <a:latin typeface="Montserrat"/>
              </a:rPr>
              <a:t>1.57B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71999" y="3059999"/>
            <a:ext cx="40320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Montserrat"/>
              </a:rPr>
              <a:t>freelancers worldwide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20000" y="4067998"/>
            <a:ext cx="4464000" cy="1655999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>
            <a:noFill/>
          </a:ln>
          <a:effectLst>
            <a:outerShdw blurRad="152400" dist="508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6000" y="4247998"/>
            <a:ext cx="4032000" cy="79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00C9A7"/>
                </a:solidFill>
                <a:latin typeface="Montserrat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71999" y="5111998"/>
            <a:ext cx="40320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Montserrat"/>
              </a:rPr>
              <a:t>CAGR through 2030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60000" y="6516000"/>
            <a:ext cx="900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Montserrat"/>
              </a:rPr>
              <a:t>06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396000"/>
            <a:ext cx="180000" cy="360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" y="378000"/>
            <a:ext cx="1080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Montserrat"/>
              </a:rPr>
              <a:t>We Don't Just Give You a Tool. We Give You a Home.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8000" y="1692000"/>
          <a:ext cx="10908000" cy="4500000"/>
        </p:xfrm>
        <a:graphic>
          <a:graphicData uri="http://schemas.openxmlformats.org/drawingml/2006/table">
            <a:tbl>
              <a:tblPr firstRow="0" bandRow="0"/>
              <a:tblGrid>
                <a:gridCol w="3564000"/>
                <a:gridCol w="1836000"/>
                <a:gridCol w="1836000"/>
                <a:gridCol w="1836000"/>
                <a:gridCol w="1836000"/>
              </a:tblGrid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Montserrat"/>
                        </a:rPr>
                        <a:t>Feature</a:t>
                      </a:r>
                    </a:p>
                  </a:txBody>
                  <a:tcPr anchor="ctr" marL="54000" marR="54000" marT="18000" marB="18000">
                    <a:solidFill>
                      <a:srgbClr val="1224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D1B2A"/>
                          </a:solidFill>
                          <a:latin typeface="Montserrat"/>
                        </a:rPr>
                        <a:t>TribeLink</a:t>
                      </a:r>
                    </a:p>
                  </a:txBody>
                  <a:tcPr anchor="ctr" marL="54000" marR="54000" marT="18000" marB="18000">
                    <a:solidFill>
                      <a:srgbClr val="00C9A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ontserrat"/>
                        </a:rPr>
                        <a:t>Slack</a:t>
                      </a:r>
                    </a:p>
                  </a:txBody>
                  <a:tcPr anchor="ctr" marL="54000" marR="54000" marT="18000" marB="18000">
                    <a:solidFill>
                      <a:srgbClr val="1224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ontserrat"/>
                        </a:rPr>
                        <a:t>Notion</a:t>
                      </a:r>
                    </a:p>
                  </a:txBody>
                  <a:tcPr anchor="ctr" marL="54000" marR="54000" marT="18000" marB="18000">
                    <a:solidFill>
                      <a:srgbClr val="1224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ontserrat"/>
                        </a:rPr>
                        <a:t>Asana</a:t>
                      </a:r>
                    </a:p>
                  </a:txBody>
                  <a:tcPr anchor="ctr" marL="54000" marR="54000" marT="18000" marB="18000">
                    <a:solidFill>
                      <a:srgbClr val="122436"/>
                    </a:solidFill>
                  </a:tcPr>
                </a:tc>
              </a:tr>
              <a:tr h="7776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AI Team Matching</a:t>
                      </a:r>
                    </a:p>
                  </a:txBody>
                  <a:tcPr anchor="ctr" marL="54000" marR="54000" marT="18000" marB="18000">
                    <a:solidFill>
                      <a:srgbClr val="1E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00C9A7"/>
                          </a:solidFill>
                          <a:latin typeface="Montserrat"/>
                        </a:rPr>
                        <a:t>✔</a:t>
                      </a:r>
                    </a:p>
                  </a:txBody>
                  <a:tcPr anchor="ctr" marL="54000" marR="54000" marT="18000" marB="18000">
                    <a:solidFill>
                      <a:srgbClr val="103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B7A88"/>
                          </a:solidFill>
                          <a:latin typeface="Montserrat"/>
                        </a:rPr>
                        <a:t>✘</a:t>
                      </a:r>
                    </a:p>
                  </a:txBody>
                  <a:tcPr anchor="ctr" marL="54000" marR="54000" marT="18000" marB="18000">
                    <a:solidFill>
                      <a:srgbClr val="1E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B7A88"/>
                          </a:solidFill>
                          <a:latin typeface="Montserrat"/>
                        </a:rPr>
                        <a:t>✘</a:t>
                      </a:r>
                    </a:p>
                  </a:txBody>
                  <a:tcPr anchor="ctr" marL="54000" marR="54000" marT="18000" marB="18000">
                    <a:solidFill>
                      <a:srgbClr val="1E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B7A88"/>
                          </a:solidFill>
                          <a:latin typeface="Montserrat"/>
                        </a:rPr>
                        <a:t>✘</a:t>
                      </a:r>
                    </a:p>
                  </a:txBody>
                  <a:tcPr anchor="ctr" marL="54000" marR="54000" marT="18000" marB="18000">
                    <a:solidFill>
                      <a:srgbClr val="1E2D3D"/>
                    </a:solidFill>
                  </a:tcPr>
                </a:tc>
              </a:tr>
              <a:tr h="7776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Voting System</a:t>
                      </a:r>
                    </a:p>
                  </a:txBody>
                  <a:tcPr anchor="ctr" marL="54000" marR="54000" marT="18000" marB="18000">
                    <a:solidFill>
                      <a:srgbClr val="1827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00C9A7"/>
                          </a:solidFill>
                          <a:latin typeface="Montserrat"/>
                        </a:rPr>
                        <a:t>✔</a:t>
                      </a:r>
                    </a:p>
                  </a:txBody>
                  <a:tcPr anchor="ctr" marL="54000" marR="54000" marT="18000" marB="18000">
                    <a:solidFill>
                      <a:srgbClr val="103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FCF97"/>
                          </a:solidFill>
                          <a:latin typeface="Montserrat"/>
                        </a:rPr>
                        <a:t>✔</a:t>
                      </a:r>
                    </a:p>
                  </a:txBody>
                  <a:tcPr anchor="ctr" marL="54000" marR="54000" marT="18000" marB="18000">
                    <a:solidFill>
                      <a:srgbClr val="1827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B7A88"/>
                          </a:solidFill>
                          <a:latin typeface="Montserrat"/>
                        </a:rPr>
                        <a:t>✘</a:t>
                      </a:r>
                    </a:p>
                  </a:txBody>
                  <a:tcPr anchor="ctr" marL="54000" marR="54000" marT="18000" marB="18000">
                    <a:solidFill>
                      <a:srgbClr val="1827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B7A88"/>
                          </a:solidFill>
                          <a:latin typeface="Montserrat"/>
                        </a:rPr>
                        <a:t>✘</a:t>
                      </a:r>
                    </a:p>
                  </a:txBody>
                  <a:tcPr anchor="ctr" marL="54000" marR="54000" marT="18000" marB="18000">
                    <a:solidFill>
                      <a:srgbClr val="182737"/>
                    </a:solidFill>
                  </a:tcPr>
                </a:tc>
              </a:tr>
              <a:tr h="7776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Contribution Tracking</a:t>
                      </a:r>
                    </a:p>
                  </a:txBody>
                  <a:tcPr anchor="ctr" marL="54000" marR="54000" marT="18000" marB="18000">
                    <a:solidFill>
                      <a:srgbClr val="1E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00C9A7"/>
                          </a:solidFill>
                          <a:latin typeface="Montserrat"/>
                        </a:rPr>
                        <a:t>✔</a:t>
                      </a:r>
                    </a:p>
                  </a:txBody>
                  <a:tcPr anchor="ctr" marL="54000" marR="54000" marT="18000" marB="18000">
                    <a:solidFill>
                      <a:srgbClr val="103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B7A88"/>
                          </a:solidFill>
                          <a:latin typeface="Montserrat"/>
                        </a:rPr>
                        <a:t>✘</a:t>
                      </a:r>
                    </a:p>
                  </a:txBody>
                  <a:tcPr anchor="ctr" marL="54000" marR="54000" marT="18000" marB="18000">
                    <a:solidFill>
                      <a:srgbClr val="1E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FCF97"/>
                          </a:solidFill>
                          <a:latin typeface="Montserrat"/>
                        </a:rPr>
                        <a:t>✔</a:t>
                      </a:r>
                    </a:p>
                  </a:txBody>
                  <a:tcPr anchor="ctr" marL="54000" marR="54000" marT="18000" marB="18000">
                    <a:solidFill>
                      <a:srgbClr val="1E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FCF97"/>
                          </a:solidFill>
                          <a:latin typeface="Montserrat"/>
                        </a:rPr>
                        <a:t>✔</a:t>
                      </a:r>
                    </a:p>
                  </a:txBody>
                  <a:tcPr anchor="ctr" marL="54000" marR="54000" marT="18000" marB="18000">
                    <a:solidFill>
                      <a:srgbClr val="1E2D3D"/>
                    </a:solidFill>
                  </a:tcPr>
                </a:tc>
              </a:tr>
              <a:tr h="7776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Carbon Dashboard</a:t>
                      </a:r>
                    </a:p>
                  </a:txBody>
                  <a:tcPr anchor="ctr" marL="54000" marR="54000" marT="18000" marB="18000">
                    <a:solidFill>
                      <a:srgbClr val="1827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00C9A7"/>
                          </a:solidFill>
                          <a:latin typeface="Montserrat"/>
                        </a:rPr>
                        <a:t>✔</a:t>
                      </a:r>
                    </a:p>
                  </a:txBody>
                  <a:tcPr anchor="ctr" marL="54000" marR="54000" marT="18000" marB="18000">
                    <a:solidFill>
                      <a:srgbClr val="103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B7A88"/>
                          </a:solidFill>
                          <a:latin typeface="Montserrat"/>
                        </a:rPr>
                        <a:t>✘</a:t>
                      </a:r>
                    </a:p>
                  </a:txBody>
                  <a:tcPr anchor="ctr" marL="54000" marR="54000" marT="18000" marB="18000">
                    <a:solidFill>
                      <a:srgbClr val="1827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B7A88"/>
                          </a:solidFill>
                          <a:latin typeface="Montserrat"/>
                        </a:rPr>
                        <a:t>✘</a:t>
                      </a:r>
                    </a:p>
                  </a:txBody>
                  <a:tcPr anchor="ctr" marL="54000" marR="54000" marT="18000" marB="18000">
                    <a:solidFill>
                      <a:srgbClr val="1827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B7A88"/>
                          </a:solidFill>
                          <a:latin typeface="Montserrat"/>
                        </a:rPr>
                        <a:t>✘</a:t>
                      </a:r>
                    </a:p>
                  </a:txBody>
                  <a:tcPr anchor="ctr" marL="54000" marR="54000" marT="18000" marB="18000">
                    <a:solidFill>
                      <a:srgbClr val="182737"/>
                    </a:solidFill>
                  </a:tcPr>
                </a:tc>
              </a:tr>
              <a:tr h="7776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Virtual HQ</a:t>
                      </a:r>
                    </a:p>
                  </a:txBody>
                  <a:tcPr anchor="ctr" marL="54000" marR="54000" marT="18000" marB="18000">
                    <a:solidFill>
                      <a:srgbClr val="1E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00C9A7"/>
                          </a:solidFill>
                          <a:latin typeface="Montserrat"/>
                        </a:rPr>
                        <a:t>✔</a:t>
                      </a:r>
                    </a:p>
                  </a:txBody>
                  <a:tcPr anchor="ctr" marL="54000" marR="54000" marT="18000" marB="18000">
                    <a:solidFill>
                      <a:srgbClr val="103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B7A88"/>
                          </a:solidFill>
                          <a:latin typeface="Montserrat"/>
                        </a:rPr>
                        <a:t>✘</a:t>
                      </a:r>
                    </a:p>
                  </a:txBody>
                  <a:tcPr anchor="ctr" marL="54000" marR="54000" marT="18000" marB="18000">
                    <a:solidFill>
                      <a:srgbClr val="1E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B7A88"/>
                          </a:solidFill>
                          <a:latin typeface="Montserrat"/>
                        </a:rPr>
                        <a:t>✘</a:t>
                      </a:r>
                    </a:p>
                  </a:txBody>
                  <a:tcPr anchor="ctr" marL="54000" marR="54000" marT="18000" marB="18000">
                    <a:solidFill>
                      <a:srgbClr val="1E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B7A88"/>
                          </a:solidFill>
                          <a:latin typeface="Montserrat"/>
                        </a:rPr>
                        <a:t>✘</a:t>
                      </a:r>
                    </a:p>
                  </a:txBody>
                  <a:tcPr anchor="ctr" marL="54000" marR="54000" marT="18000" marB="18000">
                    <a:solidFill>
                      <a:srgbClr val="1E2D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60000" y="6516000"/>
            <a:ext cx="900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Montserrat"/>
              </a:rPr>
              <a:t>07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396000"/>
            <a:ext cx="180000" cy="360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" y="378000"/>
            <a:ext cx="1080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ontserrat"/>
              </a:rPr>
              <a:t>Three Revenue Streams. Built to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1800000"/>
            <a:ext cx="3512400" cy="338400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  <a:effectLst>
            <a:outerShdw blurRad="152400" dist="508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000" y="1800000"/>
            <a:ext cx="3512400" cy="10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00" y="2088000"/>
            <a:ext cx="35124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Montserrat"/>
              </a:rPr>
              <a:t>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844000"/>
            <a:ext cx="32244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ontserrat"/>
              </a:rPr>
              <a:t>SaaS Subscriptions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999" y="3455999"/>
            <a:ext cx="30084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B0BEC5"/>
                </a:solidFill>
                <a:latin typeface="Montserrat"/>
              </a:rPr>
              <a:t>Starter  </a:t>
            </a:r>
            <a:r>
              <a:rPr sz="1600" b="1" i="0">
                <a:solidFill>
                  <a:srgbClr val="00C9A7"/>
                </a:solidFill>
                <a:latin typeface="Montserrat"/>
              </a:rPr>
              <a:t>$12</a:t>
            </a:r>
          </a:p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B0BEC5"/>
                </a:solidFill>
                <a:latin typeface="Montserrat"/>
              </a:rPr>
              <a:t>Pro  </a:t>
            </a:r>
            <a:r>
              <a:rPr sz="1600" b="1" i="0">
                <a:solidFill>
                  <a:srgbClr val="00C9A7"/>
                </a:solidFill>
                <a:latin typeface="Montserrat"/>
              </a:rPr>
              <a:t>$29</a:t>
            </a:r>
          </a:p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B0BEC5"/>
                </a:solidFill>
                <a:latin typeface="Montserrat"/>
              </a:rPr>
              <a:t>Enterprise  </a:t>
            </a:r>
            <a:r>
              <a:rPr sz="1600" b="1" i="0">
                <a:solidFill>
                  <a:srgbClr val="00C9A7"/>
                </a:solidFill>
                <a:latin typeface="Montserrat"/>
              </a:rPr>
              <a:t>Custom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2400" y="1800000"/>
            <a:ext cx="3512400" cy="338400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  <a:effectLst>
            <a:outerShdw blurRad="152400" dist="508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2400" y="1800000"/>
            <a:ext cx="3512400" cy="10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2400" y="2088000"/>
            <a:ext cx="35124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Montserrat"/>
              </a:rPr>
              <a:t>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6400" y="2844000"/>
            <a:ext cx="32244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ontserrat"/>
              </a:rPr>
              <a:t>Premium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4399" y="3455999"/>
            <a:ext cx="30084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B0BEC5"/>
                </a:solidFill>
                <a:latin typeface="Montserrat"/>
              </a:rPr>
              <a:t>Advanced AI</a:t>
            </a:r>
          </a:p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B0BEC5"/>
                </a:solidFill>
                <a:latin typeface="Montserrat"/>
              </a:rPr>
              <a:t>Voting archives</a:t>
            </a:r>
          </a:p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B0BEC5"/>
                </a:solidFill>
                <a:latin typeface="Montserrat"/>
              </a:rPr>
              <a:t>Remote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8800" y="1800000"/>
            <a:ext cx="3512400" cy="3384000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  <a:effectLst>
            <a:outerShdw blurRad="152400" dist="508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8800" y="1800000"/>
            <a:ext cx="3512400" cy="10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8800" y="2088000"/>
            <a:ext cx="35124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Montserrat"/>
              </a:rPr>
              <a:t>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2800" y="2844000"/>
            <a:ext cx="32244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ontserrat"/>
              </a:rPr>
              <a:t>Ethical Advertising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0799" y="3455999"/>
            <a:ext cx="30084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B0BEC5"/>
                </a:solidFill>
                <a:latin typeface="Montserrat"/>
              </a:rPr>
              <a:t>Eco-brand</a:t>
            </a:r>
          </a:p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B0BEC5"/>
                </a:solidFill>
                <a:latin typeface="Montserrat"/>
              </a:rPr>
              <a:t>partnerships via</a:t>
            </a:r>
          </a:p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B0BEC5"/>
                </a:solidFill>
                <a:latin typeface="Montserrat"/>
              </a:rPr>
              <a:t>Green Workspace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40000" y="5616000"/>
            <a:ext cx="9313200" cy="54000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>
            <a:outerShdw blurRad="152400" dist="508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0000" y="5616000"/>
            <a:ext cx="93132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Montserrat"/>
              </a:rPr>
              <a:t>Freemium  →  Conversion  →  Upsell  →  Partnership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60000" y="6516000"/>
            <a:ext cx="900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Montserrat"/>
              </a:rPr>
              <a:t>08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396000"/>
            <a:ext cx="180000" cy="360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" y="378000"/>
            <a:ext cx="1080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ontserrat"/>
              </a:rPr>
              <a:t>We Have Proof.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1872000"/>
            <a:ext cx="4860000" cy="1007999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>
            <a:noFill/>
          </a:ln>
          <a:effectLst>
            <a:outerShdw blurRad="152400" dist="508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6000" y="1872000"/>
            <a:ext cx="1548000" cy="1007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00C9A7"/>
                </a:solidFill>
                <a:latin typeface="Montserrat"/>
              </a:rPr>
              <a:t>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6000" y="1872000"/>
            <a:ext cx="2916000" cy="1007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Beta Participants  ·  22 Countries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3113999"/>
            <a:ext cx="4860000" cy="1007999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>
            <a:noFill/>
          </a:ln>
          <a:effectLst>
            <a:outerShdw blurRad="152400" dist="508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000" y="3113999"/>
            <a:ext cx="1548000" cy="1007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00C9A7"/>
                </a:solidFill>
                <a:latin typeface="Montserrat"/>
              </a:rPr>
              <a:t>78%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6000" y="3113999"/>
            <a:ext cx="2916000" cy="1007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Retention Rate  (vs. 55% industry avg)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00" y="4355998"/>
            <a:ext cx="4860000" cy="1007999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>
            <a:noFill/>
          </a:ln>
          <a:effectLst>
            <a:outerShdw blurRad="152400" dist="508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000" y="4355998"/>
            <a:ext cx="1548000" cy="1007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00C9A7"/>
                </a:solidFill>
                <a:latin typeface="Montserrat"/>
              </a:rPr>
              <a:t>+62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6000" y="4355998"/>
            <a:ext cx="2916000" cy="1007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NPS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03999" y="3240000"/>
            <a:ext cx="5760000" cy="288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8000" y="3142800"/>
            <a:ext cx="251999" cy="251999"/>
          </a:xfrm>
          <a:prstGeom prst="ellipse">
            <a:avLst/>
          </a:prstGeom>
          <a:solidFill>
            <a:srgbClr val="00C9A7"/>
          </a:solidFill>
          <a:ln w="254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03999" y="2520000"/>
            <a:ext cx="1440000" cy="576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C9A7"/>
                </a:solidFill>
                <a:latin typeface="Montserrat"/>
              </a:rPr>
              <a:t>Q3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3999" y="3491999"/>
            <a:ext cx="144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B0BEC5"/>
                </a:solidFill>
                <a:latin typeface="Montserrat"/>
              </a:rPr>
              <a:t>Global Public
Beta</a:t>
            </a:r>
          </a:p>
        </p:txBody>
      </p:sp>
      <p:sp>
        <p:nvSpPr>
          <p:cNvPr id="20" name="Oval 19"/>
          <p:cNvSpPr/>
          <p:nvPr/>
        </p:nvSpPr>
        <p:spPr>
          <a:xfrm>
            <a:off x="7938000" y="3142800"/>
            <a:ext cx="251999" cy="251999"/>
          </a:xfrm>
          <a:prstGeom prst="ellipse">
            <a:avLst/>
          </a:prstGeom>
          <a:solidFill>
            <a:srgbClr val="00C9A7"/>
          </a:solidFill>
          <a:ln w="254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3999" y="2520000"/>
            <a:ext cx="1440000" cy="576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C9A7"/>
                </a:solidFill>
                <a:latin typeface="Montserrat"/>
              </a:rPr>
              <a:t>Q4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3999" y="3491999"/>
            <a:ext cx="144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B0BEC5"/>
                </a:solidFill>
                <a:latin typeface="Montserrat"/>
              </a:rPr>
              <a:t>Slack &amp; Notion
Integration</a:t>
            </a:r>
          </a:p>
        </p:txBody>
      </p:sp>
      <p:sp>
        <p:nvSpPr>
          <p:cNvPr id="23" name="Oval 22"/>
          <p:cNvSpPr/>
          <p:nvPr/>
        </p:nvSpPr>
        <p:spPr>
          <a:xfrm>
            <a:off x="9378000" y="3142800"/>
            <a:ext cx="251999" cy="251999"/>
          </a:xfrm>
          <a:prstGeom prst="ellipse">
            <a:avLst/>
          </a:prstGeom>
          <a:solidFill>
            <a:srgbClr val="00C9A7"/>
          </a:solidFill>
          <a:ln w="254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83999" y="2520000"/>
            <a:ext cx="1440000" cy="576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C9A7"/>
                </a:solidFill>
                <a:latin typeface="Montserrat"/>
              </a:rPr>
              <a:t>Q1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3999" y="3491999"/>
            <a:ext cx="144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B0BEC5"/>
                </a:solidFill>
                <a:latin typeface="Montserrat"/>
              </a:rPr>
              <a:t>Virtual HQ
2.0</a:t>
            </a:r>
          </a:p>
        </p:txBody>
      </p:sp>
      <p:sp>
        <p:nvSpPr>
          <p:cNvPr id="26" name="Oval 25"/>
          <p:cNvSpPr/>
          <p:nvPr/>
        </p:nvSpPr>
        <p:spPr>
          <a:xfrm>
            <a:off x="10818000" y="3142800"/>
            <a:ext cx="251999" cy="251999"/>
          </a:xfrm>
          <a:prstGeom prst="ellipse">
            <a:avLst/>
          </a:prstGeom>
          <a:solidFill>
            <a:srgbClr val="00C9A7"/>
          </a:solidFill>
          <a:ln w="254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3999" y="2520000"/>
            <a:ext cx="1440000" cy="576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C9A7"/>
                </a:solidFill>
                <a:latin typeface="Montserrat"/>
              </a:rPr>
              <a:t>Q2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3999" y="3491999"/>
            <a:ext cx="144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B0BEC5"/>
                </a:solidFill>
                <a:latin typeface="Montserrat"/>
              </a:rPr>
              <a:t>Series A
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76600" y="5346000"/>
            <a:ext cx="86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B0BEC5"/>
                </a:solidFill>
                <a:latin typeface="Montserrat"/>
              </a:rPr>
              <a:t>Pilot partners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76600" y="5688000"/>
            <a:ext cx="2664000" cy="61200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76600" y="5688000"/>
            <a:ext cx="2664000" cy="61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B0BEC5"/>
                </a:solidFill>
                <a:latin typeface="Montserrat"/>
              </a:rPr>
              <a:t>Fintech  SG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64600" y="5688000"/>
            <a:ext cx="2664000" cy="61200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64600" y="5688000"/>
            <a:ext cx="2664000" cy="61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B0BEC5"/>
                </a:solidFill>
                <a:latin typeface="Montserrat"/>
              </a:rPr>
              <a:t>EdTech  Berlin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52600" y="5688000"/>
            <a:ext cx="2664000" cy="61200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52600" y="5688000"/>
            <a:ext cx="2664000" cy="61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B0BEC5"/>
                </a:solidFill>
                <a:latin typeface="Montserrat"/>
              </a:rPr>
              <a:t>Agency  São Paulo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60000" y="6516000"/>
            <a:ext cx="900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Montserrat"/>
              </a:rPr>
              <a:t>09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396000"/>
            <a:ext cx="180000" cy="360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" y="378000"/>
            <a:ext cx="1080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ontserrat"/>
              </a:rPr>
              <a:t>Raising $500K Seed Round</a:t>
            </a:r>
          </a:p>
        </p:txBody>
      </p:sp>
      <p:pic>
        <p:nvPicPr>
          <p:cNvPr id="7" name="Picture 6" descr="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872000"/>
            <a:ext cx="3960000" cy="396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6000" y="5932799"/>
            <a:ext cx="162000" cy="1620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000" y="5903999"/>
            <a:ext cx="2088000" cy="2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Montserrat"/>
              </a:rPr>
              <a:t>40%  Product 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2000" y="5932799"/>
            <a:ext cx="162000" cy="162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6000" y="5903999"/>
            <a:ext cx="2088000" cy="2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Montserrat"/>
              </a:rPr>
              <a:t>30%  Sales &amp; Marketing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6238799"/>
            <a:ext cx="162000" cy="162000"/>
          </a:xfrm>
          <a:prstGeom prst="rect">
            <a:avLst/>
          </a:prstGeom>
          <a:solidFill>
            <a:srgbClr val="3CB3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000" y="6209999"/>
            <a:ext cx="2088000" cy="2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Montserrat"/>
              </a:rPr>
              <a:t>20%  Operations &amp; Talent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52000" y="6238799"/>
            <a:ext cx="162000" cy="162000"/>
          </a:xfrm>
          <a:prstGeom prst="rect">
            <a:avLst/>
          </a:prstGeom>
          <a:solidFill>
            <a:srgbClr val="90A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6000" y="6209999"/>
            <a:ext cx="2088000" cy="2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Montserrat"/>
              </a:rPr>
              <a:t>10%  Legal &amp; Compliance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976000" y="1944000"/>
          <a:ext cx="5651999" cy="2340000"/>
        </p:xfrm>
        <a:graphic>
          <a:graphicData uri="http://schemas.openxmlformats.org/drawingml/2006/table">
            <a:tbl>
              <a:tblPr firstRow="0" bandRow="0"/>
              <a:tblGrid>
                <a:gridCol w="3671999"/>
                <a:gridCol w="1980000"/>
              </a:tblGrid>
              <a:tr h="5850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D1B2A"/>
                          </a:solidFill>
                          <a:latin typeface="Montserrat"/>
                        </a:rPr>
                        <a:t>Milestone</a:t>
                      </a:r>
                    </a:p>
                  </a:txBody>
                  <a:tcPr anchor="ctr" marL="54000" marR="54000" marT="18000" marB="18000">
                    <a:solidFill>
                      <a:srgbClr val="00C9A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D1B2A"/>
                          </a:solidFill>
                          <a:latin typeface="Montserrat"/>
                        </a:rPr>
                        <a:t>Timeline</a:t>
                      </a:r>
                    </a:p>
                  </a:txBody>
                  <a:tcPr anchor="ctr" marL="54000" marR="54000" marT="18000" marB="18000">
                    <a:solidFill>
                      <a:srgbClr val="00C9A7"/>
                    </a:solidFill>
                  </a:tcPr>
                </a:tc>
              </a:tr>
              <a:tr h="585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Montserrat"/>
                        </a:rPr>
                        <a:t>10,000 paying users</a:t>
                      </a:r>
                    </a:p>
                  </a:txBody>
                  <a:tcPr anchor="ctr" marL="54000" marR="54000" marT="18000" marB="18000">
                    <a:solidFill>
                      <a:srgbClr val="1E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C9A7"/>
                          </a:solidFill>
                          <a:latin typeface="Montserrat"/>
                        </a:rPr>
                        <a:t>Month 12</a:t>
                      </a:r>
                    </a:p>
                  </a:txBody>
                  <a:tcPr anchor="ctr" marL="54000" marR="54000" marT="18000" marB="18000">
                    <a:solidFill>
                      <a:srgbClr val="1E2D3D"/>
                    </a:solidFill>
                  </a:tcPr>
                </a:tc>
              </a:tr>
              <a:tr h="585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Montserrat"/>
                        </a:rPr>
                        <a:t>$2.4M ARR</a:t>
                      </a:r>
                    </a:p>
                  </a:txBody>
                  <a:tcPr anchor="ctr" marL="54000" marR="54000" marT="18000" marB="18000">
                    <a:solidFill>
                      <a:srgbClr val="1827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C9A7"/>
                          </a:solidFill>
                          <a:latin typeface="Montserrat"/>
                        </a:rPr>
                        <a:t>Month 18</a:t>
                      </a:r>
                    </a:p>
                  </a:txBody>
                  <a:tcPr anchor="ctr" marL="54000" marR="54000" marT="18000" marB="18000">
                    <a:solidFill>
                      <a:srgbClr val="182737"/>
                    </a:solidFill>
                  </a:tcPr>
                </a:tc>
              </a:tr>
              <a:tr h="585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Montserrat"/>
                        </a:rPr>
                        <a:t>Series A target valuation</a:t>
                      </a:r>
                    </a:p>
                  </a:txBody>
                  <a:tcPr anchor="ctr" marL="54000" marR="54000" marT="18000" marB="18000">
                    <a:solidFill>
                      <a:srgbClr val="1E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C9A7"/>
                          </a:solidFill>
                          <a:latin typeface="Montserrat"/>
                        </a:rPr>
                        <a:t>$8–10M</a:t>
                      </a:r>
                    </a:p>
                  </a:txBody>
                  <a:tcPr anchor="ctr" marL="54000" marR="54000" marT="18000" marB="18000">
                    <a:solidFill>
                      <a:srgbClr val="1E2D3D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976000" y="4752000"/>
            <a:ext cx="5652000" cy="93600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6000" y="4752000"/>
            <a:ext cx="5652000" cy="93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0C9A7"/>
                </a:solidFill>
                <a:latin typeface="Montserrat"/>
              </a:rPr>
              <a:t>18-Month Path to Series 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60000" y="6516000"/>
            <a:ext cx="900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Montserrat"/>
              </a:rP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576000"/>
            <a:ext cx="108000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Montserrat"/>
              </a:rPr>
              <a:t>Let's Build the Future of Work —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800000"/>
            <a:ext cx="10033200" cy="93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1">
                <a:solidFill>
                  <a:srgbClr val="FFD700"/>
                </a:solidFill>
                <a:latin typeface="Montserrat"/>
              </a:rPr>
              <a:t>“Distance is never a barrier to great work.”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194800" y="2880000"/>
            <a:ext cx="1800000" cy="288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0000" y="3456000"/>
            <a:ext cx="3248400" cy="1224000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00200" y="3600000"/>
            <a:ext cx="648000" cy="288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3672000"/>
            <a:ext cx="32484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Montserrat"/>
              </a:rPr>
              <a:t>Speaker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4032000"/>
            <a:ext cx="32484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D700"/>
                </a:solidFill>
                <a:latin typeface="Montserrat"/>
              </a:rPr>
              <a:t>CEO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283999"/>
            <a:ext cx="32484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  <a:latin typeface="Montserrat"/>
              </a:rPr>
              <a:t>ceo@tribelink.io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2400" y="3456000"/>
            <a:ext cx="3248400" cy="1224000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72600" y="3600000"/>
            <a:ext cx="648000" cy="288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2400" y="3672000"/>
            <a:ext cx="32484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Montserrat"/>
              </a:rPr>
              <a:t>Speaker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2400" y="4032000"/>
            <a:ext cx="32484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D700"/>
                </a:solidFill>
                <a:latin typeface="Montserrat"/>
              </a:rPr>
              <a:t>CPO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2400" y="4283999"/>
            <a:ext cx="32484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  <a:latin typeface="Montserrat"/>
              </a:rPr>
              <a:t>cpo@tribelink.io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4800" y="3456000"/>
            <a:ext cx="3248400" cy="1224000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45000" y="3600000"/>
            <a:ext cx="648000" cy="288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4800" y="3672000"/>
            <a:ext cx="32484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Montserrat"/>
              </a:rPr>
              <a:t>Speaker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4800" y="4032000"/>
            <a:ext cx="32484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D700"/>
                </a:solidFill>
                <a:latin typeface="Montserrat"/>
              </a:rPr>
              <a:t>CFO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4800" y="4283999"/>
            <a:ext cx="32484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  <a:latin typeface="Montserrat"/>
              </a:rPr>
              <a:t>cfo@tribelink.io</a:t>
            </a:r>
          </a:p>
        </p:txBody>
      </p:sp>
      <p:sp>
        <p:nvSpPr>
          <p:cNvPr id="23" name="Oval 22"/>
          <p:cNvSpPr/>
          <p:nvPr/>
        </p:nvSpPr>
        <p:spPr>
          <a:xfrm>
            <a:off x="936000" y="5616000"/>
            <a:ext cx="864000" cy="864000"/>
          </a:xfrm>
          <a:prstGeom prst="ellipse">
            <a:avLst/>
          </a:prstGeom>
          <a:noFill/>
          <a:ln w="254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6000" y="5616000"/>
            <a:ext cx="864000" cy="86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Montserrat"/>
              </a:rPr>
              <a:t>TL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4000" y="5616000"/>
            <a:ext cx="5760000" cy="86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Montserrat"/>
              </a:rPr>
              <a:t>TribeLink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0BEC5"/>
                </a:solidFill>
                <a:latin typeface="Montserrat"/>
              </a:rPr>
              <a:t>www.tribelink.io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04000" y="5616000"/>
            <a:ext cx="864000" cy="864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04000" y="5616000"/>
            <a:ext cx="864000" cy="86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B0BEC5"/>
                </a:solidFill>
                <a:latin typeface="Montserrat"/>
              </a:rPr>
              <a:t>QR
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